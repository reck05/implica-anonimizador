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enfatizar la trayectoria de [Persona-001] como fundador y la solidez del [Empresa-014]. [Persona-015] tiene un track record sólido.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enfatizar la trayectoria de [Persona-001] como fundador y la solidez del [Empresa-014]. [Persona-015] tiene un track record sólido.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enfatizar la trayectoria de [Persona-001] como fundador y la solidez del [Empresa-014]. [Persona-015] tiene un track record sólido.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Information Memorandum</a:t>
            </a:r>
          </a:p>
          <a:p>
            <a:r>
              <a:t>[Persona-015] del Sur S.L.</a:t>
            </a:r>
          </a:p>
          <a:p>
            <a:r>
              <a:t>Mayo 2026</a:t>
            </a:r>
          </a:p>
          <a:p>
            <a:r>
              <a:t>Preparado por [Empresa-002]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Este documento ha sido preparado por [Empresa-002] en nombre de [Persona-015] del Sur S.L..</a:t>
            </a:r>
          </a:p>
          <a:p>
            <a:pPr>
              <a:defRPr sz="1400"/>
            </a:pPr>
            <a:r>
              <a:t>• La información contenida es confidencial y propiedad exclusiva de [Persona-015].</a:t>
            </a:r>
          </a:p>
          <a:p>
            <a:pPr>
              <a:defRPr sz="1400"/>
            </a:pPr>
            <a:r>
              <a:t>• Su uso queda restringido a las partes destinatarias firmantes del [Empresa-021].</a:t>
            </a:r>
          </a:p>
          <a:p>
            <a:pPr>
              <a:defRPr sz="1400"/>
            </a:pPr>
            <a:r>
              <a:t>• Para consultas: contactar con [Persona-004] en [Empresa-002].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Disclaimer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Resumen Ejecutivo — [Empresa-006]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1. 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[Persona-015] del Sur S.L. es líder en el sector de soluciones industriales mediterráneas.</a:t>
            </a:r>
          </a:p>
          <a:p>
            <a:pPr>
              <a:defRPr sz="1400"/>
            </a:pPr>
            <a:r>
              <a:t>• Fundada en 2008 por [Persona-001], con sede en [ADDRESS-002].</a:t>
            </a:r>
          </a:p>
          <a:p>
            <a:pPr>
              <a:defRPr sz="1400"/>
            </a:pPr>
            <a:r>
              <a:t>• Facturación 2024: 45,2 M€ (+18% YoY). EBITDA: 8,7 M€ (margen 19,2%).</a:t>
            </a:r>
          </a:p>
          <a:p>
            <a:pPr>
              <a:defRPr sz="1400"/>
            </a:pPr>
            <a:r>
              <a:t>• [Persona-008] de 245 personas distribuidas entre Madrid y Barcelona.</a:t>
            </a:r>
          </a:p>
          <a:p>
            <a:pPr>
              <a:defRPr sz="1400"/>
            </a:pPr>
            <a:r>
              <a:t>• CIF: [CIF-001]. Web: www.innovacionesmediterraneas.com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1. Resumen Ejecutivo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La Compañía — [Persona-015]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2. La Compañía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Razón social: [Persona-015] del Sur S.L.</a:t>
            </a:r>
          </a:p>
          <a:p>
            <a:pPr>
              <a:defRPr sz="1400"/>
            </a:pPr>
            <a:r>
              <a:t>• CIF: [CIF-001]</a:t>
            </a:r>
          </a:p>
          <a:p>
            <a:pPr>
              <a:defRPr sz="1400"/>
            </a:pPr>
            <a:r>
              <a:t>• Sede social: [ADDRESS-002]</a:t>
            </a:r>
          </a:p>
          <a:p>
            <a:pPr>
              <a:defRPr sz="1400"/>
            </a:pPr>
            <a:r>
              <a:t>• Centros productivos: Madrid, Barcelona, Sevilla, Bilbao</a:t>
            </a:r>
          </a:p>
          <a:p>
            <a:pPr>
              <a:defRPr sz="1400"/>
            </a:pPr>
            <a:r>
              <a:t>• Filiales: [Persona-015] Portugal (Lisboa), [Empresa-007] (Lyon)</a:t>
            </a:r>
          </a:p>
          <a:p>
            <a:pPr>
              <a:defRPr sz="1400"/>
            </a:pPr>
            <a:r>
              <a:t>• Auditoría: [Empresa-024] España. [Empresa-010]: Garrigues.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2. La Compañía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Producto y Tecnología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3.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[Persona-015] desarrolla equipos de eficiencia energética para industria.</a:t>
            </a:r>
          </a:p>
          <a:p>
            <a:pPr>
              <a:defRPr sz="1400"/>
            </a:pPr>
            <a:r>
              <a:t>• Tres líneas: [Empresa-006]-Cool (refrigeración), [Empresa-006]-Heat (calefacción industrial), [Empresa-006]-Air (ventilación).</a:t>
            </a:r>
          </a:p>
          <a:p>
            <a:pPr>
              <a:defRPr sz="1400"/>
            </a:pPr>
            <a:r>
              <a:t>• Tecnología propia patentada (3 patentes activas en España, 1 internacional).</a:t>
            </a:r>
          </a:p>
          <a:p>
            <a:pPr>
              <a:defRPr sz="1400"/>
            </a:pPr>
            <a:r>
              <a:t>• Centro [Empresa-016] propio en Parque Tecnológico de Bizkaia, dirigido por [Persona-002].</a:t>
            </a:r>
          </a:p>
          <a:p>
            <a:pPr>
              <a:defRPr sz="1400"/>
            </a:pPr>
            <a:r>
              <a:t>• Inversión en [Empresa-016]: 2,3 M€ anuales (5% facturación).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3. Producto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Mercado y Competencia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4.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Mercado español de eficiencia energética industrial: 1.200 M€ (CAGR 2020-2024: +12%).</a:t>
            </a:r>
          </a:p>
          <a:p>
            <a:pPr>
              <a:defRPr sz="1400"/>
            </a:pPr>
            <a:r>
              <a:t>• Cuota de mercado de [Persona-015]: ~3,8% en España.</a:t>
            </a:r>
          </a:p>
          <a:p>
            <a:pPr>
              <a:defRPr sz="1400"/>
            </a:pPr>
            <a:r>
              <a:t>• Principales competidores: [Empresa-018]., [Empresa-020], [Empresa-023]..</a:t>
            </a:r>
          </a:p>
          <a:p>
            <a:pPr>
              <a:defRPr sz="1400"/>
            </a:pPr>
            <a:r>
              <a:t>• Diferenciación: tecnología propia + servicio postventa (NPS 78 vs media sector 42).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4. Mercado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[Empresa-014]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5. [Persona-008]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[Persona-001] — [Empresa-011]</a:t>
            </a:r>
          </a:p>
          <a:p>
            <a:pPr>
              <a:defRPr sz="1400"/>
            </a:pPr>
            <a:r>
              <a:t>• [Persona-003] — [Empresa-003]</a:t>
            </a:r>
          </a:p>
          <a:p>
            <a:pPr>
              <a:defRPr sz="1400"/>
            </a:pPr>
            <a:r>
              <a:t>• [Persona-006] — [Empresa-012]</a:t>
            </a:r>
          </a:p>
          <a:p>
            <a:pPr>
              <a:defRPr sz="1400"/>
            </a:pPr>
            <a:r>
              <a:t>• [Persona-005] — Chief Commercial Officer</a:t>
            </a:r>
          </a:p>
          <a:p>
            <a:pPr>
              <a:defRPr sz="1400"/>
            </a:pPr>
            <a:r>
              <a:t>• [Persona-002] — [Empresa-004]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5. [Persona-008]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[Persona-008] — [Persona-012]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[Persona-001] ([Empresa-011]): 20 años en sector. [Persona-013].</a:t>
            </a:r>
          </a:p>
          <a:p>
            <a:pPr>
              <a:defRPr sz="1200"/>
            </a:pPr>
            <a:r>
              <a:t>[Persona-003] ([Empresa-003]): 15 años. [Empresa-009] en Distribuciones del Norte S.L.</a:t>
            </a:r>
          </a:p>
          <a:p>
            <a:pPr>
              <a:defRPr sz="1200"/>
            </a:pPr>
            <a:r>
              <a:t>[Persona-006] ([Empresa-012]): 10 años. [Empresa-019] industrial, MBA por IESE.</a:t>
            </a:r>
          </a:p>
          <a:p>
            <a:pPr>
              <a:defRPr sz="1200"/>
            </a:pPr>
            <a:r>
              <a:t>[Persona-005] (Chief Commercial Officer): Desarrollo de negocio internacional. Ex-Servicios Mediterráneos.</a:t>
            </a:r>
          </a:p>
          <a:p>
            <a:pPr>
              <a:defRPr sz="1200"/>
            </a:pPr>
            <a:r>
              <a:t>[Persona-002] ([Empresa-004]): [Empresa-019] informático. Llegó con la adquisición de Tecnologías Premium S.L. en 2021.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Cuenta de Resultados 2022-2024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6. [Empresa-001]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Ingresos: 2022: 31,5 M€  |  2023: 38,4 M€  |  2024: 45,2 M€</a:t>
            </a:r>
          </a:p>
          <a:p>
            <a:pPr>
              <a:defRPr sz="1400"/>
            </a:pPr>
            <a:r>
              <a:t>• EBITDA: 2022: 5,1 M€ (16,2%)  |  2023: 6,9 M€ (18,0%)  |  2024: 8,7 M€ (19,2%)</a:t>
            </a:r>
          </a:p>
          <a:p>
            <a:pPr>
              <a:defRPr sz="1400"/>
            </a:pPr>
            <a:r>
              <a:t>• Beneficio neto: 2022: 2,8 M€  |  2023: 3,9 M€  |  2024: 5,1 M€</a:t>
            </a:r>
          </a:p>
          <a:p>
            <a:pPr>
              <a:defRPr sz="1400"/>
            </a:pPr>
            <a:r>
              <a:t>• DFN/EBITDA: 1,2x en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6. [Empresa-001]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Top 5 Clientes (% facturación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6. [Empresa-001] —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[Persona-007] y Atlas: 14,2%</a:t>
            </a:r>
          </a:p>
          <a:p>
            <a:pPr>
              <a:defRPr sz="1400"/>
            </a:pPr>
            <a:r>
              <a:t>• Carrefour España S.A.: 11,8%</a:t>
            </a:r>
          </a:p>
          <a:p>
            <a:pPr>
              <a:defRPr sz="1400"/>
            </a:pPr>
            <a:r>
              <a:t>• Mercadona S.A.: 9,5%</a:t>
            </a:r>
          </a:p>
          <a:p>
            <a:pPr>
              <a:defRPr sz="1400"/>
            </a:pPr>
            <a:r>
              <a:t>• Grupo El [Empresa-005]: 7,1%</a:t>
            </a:r>
          </a:p>
          <a:p>
            <a:pPr>
              <a:defRPr sz="1400"/>
            </a:pPr>
            <a:r>
              <a:t>• DIA [Empresa-015].: 5,4%</a:t>
            </a:r>
          </a:p>
          <a:p>
            <a:pPr>
              <a:defRPr sz="1400"/>
            </a:pPr>
            <a:r>
              <a:t>• Concentración Top 5: 48% (anteriormente 52% en 2022, mejora de diversificación)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6. [Empresa-001] — Clientes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Cartera completa de clientes recurrentes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6. [Empresa-001] — Cartera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[Persona-007] y Atlas</a:t>
            </a:r>
          </a:p>
          <a:p>
            <a:pPr>
              <a:defRPr sz="1400"/>
            </a:pPr>
            <a:r>
              <a:t>• Carrefour España S.A.</a:t>
            </a:r>
          </a:p>
          <a:p>
            <a:pPr>
              <a:defRPr sz="1400"/>
            </a:pPr>
            <a:r>
              <a:t>• Mercadona S.A.</a:t>
            </a:r>
          </a:p>
          <a:p>
            <a:pPr>
              <a:defRPr sz="1400"/>
            </a:pPr>
            <a:r>
              <a:t>• Grupo El [Empresa-005]</a:t>
            </a:r>
          </a:p>
          <a:p>
            <a:pPr>
              <a:defRPr sz="1400"/>
            </a:pPr>
            <a:r>
              <a:t>• DIA [Empresa-015].</a:t>
            </a:r>
          </a:p>
          <a:p>
            <a:pPr>
              <a:defRPr sz="1400"/>
            </a:pPr>
            <a:r>
              <a:t>• [Persona-009] S.L.</a:t>
            </a:r>
          </a:p>
          <a:p>
            <a:pPr>
              <a:defRPr sz="1400"/>
            </a:pPr>
            <a:r>
              <a:t>• Comercial del Levante S.L.U.</a:t>
            </a:r>
          </a:p>
          <a:p>
            <a:pPr>
              <a:defRPr sz="1400"/>
            </a:pPr>
            <a:r>
              <a:t>• [Persona-010]</a:t>
            </a:r>
          </a:p>
          <a:p>
            <a:pPr>
              <a:defRPr sz="1400"/>
            </a:pPr>
            <a:r>
              <a:t>• Frutas Catalanas Premium S.A.</a:t>
            </a:r>
          </a:p>
          <a:p>
            <a:pPr>
              <a:defRPr sz="1400"/>
            </a:pPr>
            <a:r>
              <a:t>• Servicios Logística Iberia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6. [Empresa-001] — Cartera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Proveedores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7. [Empresa-022]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Materias primas: [Persona-010], [Persona-009] S.L.</a:t>
            </a:r>
          </a:p>
          <a:p>
            <a:pPr>
              <a:defRPr sz="1400"/>
            </a:pPr>
            <a:r>
              <a:t>• Logística: Servicios Logística Iberia (contrato exclusivo desde 2019).</a:t>
            </a:r>
          </a:p>
          <a:p>
            <a:pPr>
              <a:defRPr sz="1400"/>
            </a:pPr>
            <a:r>
              <a:t>• [Empresa-017] y software: Tecnologías Premium S.L. (filial desde 2021).</a:t>
            </a:r>
          </a:p>
          <a:p>
            <a:pPr>
              <a:defRPr sz="1400"/>
            </a:pPr>
            <a:r>
              <a:t>• Asesoría: Garrigues (legal), [Empresa-024] (auditoría y fiscal).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7. [Empresa-022]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[Persona-011] 2025-2027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8. [Persona-011]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Ingresos 2025E: 52,8 M€ (+17%). 2026E: 61,5 M€ (+16%). 2027E: 70,2 M€ (+14%).</a:t>
            </a:r>
          </a:p>
          <a:p>
            <a:pPr>
              <a:defRPr sz="1400"/>
            </a:pPr>
            <a:r>
              <a:t>• EBITDA margin: estabilización en 19,5-20,0%.</a:t>
            </a:r>
          </a:p>
          <a:p>
            <a:pPr>
              <a:defRPr sz="1400"/>
            </a:pPr>
            <a:r>
              <a:t>• CAPEX: 3,5 M€/año (nueva planta Sevilla operativa Q3 2026).</a:t>
            </a:r>
          </a:p>
          <a:p>
            <a:pPr>
              <a:defRPr sz="1400"/>
            </a:pPr>
            <a:r>
              <a:t>• Plan de expansión: Italia 2025, Francia 2026, ampliar Portugal.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8. [Persona-011]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Oportunidad de 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9.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Los accionistas de [Persona-015] ([Empresa-006]) buscan un socio estratégico/financiero.</a:t>
            </a:r>
          </a:p>
          <a:p>
            <a:pPr>
              <a:defRPr sz="1400"/>
            </a:pPr>
            <a:r>
              <a:t>• Operación target: venta del 100% del capital.</a:t>
            </a:r>
          </a:p>
          <a:p>
            <a:pPr>
              <a:defRPr sz="1400"/>
            </a:pPr>
            <a:r>
              <a:t>• Múltiplos comparables: 8-10x EBITDA en transacciones recientes del sector.</a:t>
            </a:r>
          </a:p>
          <a:p>
            <a:pPr>
              <a:defRPr sz="1400"/>
            </a:pPr>
            <a:r>
              <a:t>• Valoración orientativa: rango 70-90 M€ enterprise value.</a:t>
            </a:r>
          </a:p>
          <a:p>
            <a:pPr>
              <a:defRPr sz="1400"/>
            </a:pPr>
            <a:r>
              <a:t>• Apertura de proceso: junio 2026. Cierre estimado: Q4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9. Oportunidad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Investment [Persona-014]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10. [Persona-014]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✓ Líder en nicho de alto crecimiento (CAGR 12%).</a:t>
            </a:r>
          </a:p>
          <a:p>
            <a:pPr>
              <a:defRPr sz="1400"/>
            </a:pPr>
            <a:r>
              <a:t>• ✓ Tecnología propia patentada con barreras de entrada.</a:t>
            </a:r>
          </a:p>
          <a:p>
            <a:pPr>
              <a:defRPr sz="1400"/>
            </a:pPr>
            <a:r>
              <a:t>• ✓ [Empresa-014] experimentado con track record probado.</a:t>
            </a:r>
          </a:p>
          <a:p>
            <a:pPr>
              <a:defRPr sz="1400"/>
            </a:pPr>
            <a:r>
              <a:t>• ✓ Diversificación de clientes mejorando (Top 5 baja del 52% al 48%).</a:t>
            </a:r>
          </a:p>
          <a:p>
            <a:pPr>
              <a:defRPr sz="1400"/>
            </a:pPr>
            <a:r>
              <a:t>• ✓ Plan de expansión internacional ya iniciado.</a:t>
            </a:r>
          </a:p>
          <a:p>
            <a:pPr>
              <a:defRPr sz="1400"/>
            </a:pPr>
            <a:r>
              <a:t>• ✓ Márgenes EBITDA en expansión: 16% → 19% en 3 años.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10. [Persona-014]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Cap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Anexo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[Persona-001] (CEO): 52% del capital.</a:t>
            </a:r>
          </a:p>
          <a:p>
            <a:pPr>
              <a:defRPr sz="1400"/>
            </a:pPr>
            <a:r>
              <a:t>• Family office Hermanos García (3 hermanos del fundador): 18%.</a:t>
            </a:r>
          </a:p>
          <a:p>
            <a:pPr>
              <a:defRPr sz="1400"/>
            </a:pPr>
            <a:r>
              <a:t>• Auriga Capital Partners (VC entrada 2019): 15%.</a:t>
            </a:r>
          </a:p>
          <a:p>
            <a:pPr>
              <a:defRPr sz="1400"/>
            </a:pPr>
            <a:r>
              <a:t>• [Persona-003] ([Empresa-003]): 4%.</a:t>
            </a:r>
          </a:p>
          <a:p>
            <a:pPr>
              <a:defRPr sz="1400"/>
            </a:pPr>
            <a:r>
              <a:t>• [Persona-002] ([Empresa-004]): 4%.</a:t>
            </a:r>
          </a:p>
          <a:p>
            <a:pPr>
              <a:defRPr sz="1400"/>
            </a:pPr>
            <a:r>
              <a:t>• Empleados via stock options: 7%.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Anexo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Estructura societaria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Anexo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[Persona-015] del Sur S.L. (matriz, CIF [CIF-001]) — España.</a:t>
            </a:r>
          </a:p>
          <a:p>
            <a:pPr>
              <a:defRPr sz="1400"/>
            </a:pPr>
            <a:r>
              <a:t>• [Persona-015] Portugal Lda. — 100% participada, sede Lisboa.</a:t>
            </a:r>
          </a:p>
          <a:p>
            <a:pPr>
              <a:defRPr sz="1400"/>
            </a:pPr>
            <a:r>
              <a:t>• [Empresa-007] SAS — 100% participada, sede Lyon.</a:t>
            </a:r>
          </a:p>
          <a:p>
            <a:pPr>
              <a:defRPr sz="1400"/>
            </a:pPr>
            <a:r>
              <a:t>• Tecnologías Premium S.L. (CIF [CIF-002]) — 100% participada desde 2021.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Anexo 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Localizaciones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Anexo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📍 [ADDRESS-002]</a:t>
            </a:r>
          </a:p>
          <a:p>
            <a:pPr>
              <a:defRPr sz="1400"/>
            </a:pPr>
            <a:r>
              <a:t>• 📍 [ADDRESS-004]</a:t>
            </a:r>
          </a:p>
          <a:p>
            <a:pPr>
              <a:defRPr sz="1400"/>
            </a:pPr>
            <a:r>
              <a:t>• 📍 Polígono Industrial El Plantío, Sevilla</a:t>
            </a:r>
          </a:p>
          <a:p>
            <a:pPr>
              <a:defRPr sz="1400"/>
            </a:pPr>
            <a:r>
              <a:t>• 📍 Parque Tecnológico de Bizkaia, Bilbao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Anexo 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Contacto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Contacto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[Empresa-002]</a:t>
            </a:r>
          </a:p>
          <a:p>
            <a:pPr>
              <a:defRPr sz="1400"/>
            </a:pPr>
            <a:r>
              <a:t>• [Persona-004] — [Empresa-008]</a:t>
            </a:r>
          </a:p>
          <a:p>
            <a:pPr>
              <a:defRPr sz="1400"/>
            </a:pPr>
            <a:r>
              <a:t>• Email: [EMAIL-001]</a:t>
            </a:r>
          </a:p>
          <a:p>
            <a:pPr>
              <a:defRPr sz="1400"/>
            </a:pPr>
            <a:r>
              <a:t>• Móvil: +[PHONE-001]</a:t>
            </a:r>
          </a:p>
          <a:p>
            <a:pPr>
              <a:defRPr sz="1400"/>
            </a:pPr>
            <a:r>
              <a:t>• Oficina: [ADDRESS-005], 28001 Madrid</a:t>
            </a:r>
          </a:p>
          <a:p>
            <a:pPr>
              <a:defRPr sz="1400"/>
            </a:pPr>
            <a:r>
              <a:t>• Web: www.implicacf.com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Contacto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Disclaimer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Este documento es propiedad de [Persona-015] del Sur S.L. y de [Empresa-002].</a:t>
            </a:r>
          </a:p>
          <a:p>
            <a:pPr>
              <a:defRPr sz="1400"/>
            </a:pPr>
            <a:r>
              <a:t>• Cualquier reproducción no autorizada está prohibida.</a:t>
            </a:r>
          </a:p>
          <a:p>
            <a:pPr>
              <a:defRPr sz="1400"/>
            </a:pPr>
            <a:r>
              <a:t>• La información financiera no auditada está sujeta a verificación en due diligence.</a:t>
            </a:r>
          </a:p>
          <a:p>
            <a:pPr>
              <a:defRPr sz="1400"/>
            </a:pPr>
            <a:r>
              <a:t>• Contacto único para cuestiones: [Persona-004] (Implica) — [EMAIL-001]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[Persona-015]  |  Confidencial  |  Disclaimer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