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enfatizar la trayectoria de Juan García Pérez como fundador y la solidez del equipo directivo. Innovaciones Mediterráneas tiene un track record sólido.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enfatizar la trayectoria de Juan García Pérez como fundador y la solidez del equipo directivo. Innovaciones Mediterráneas tiene un track record sólido.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enfatizar la trayectoria de Juan García Pérez como fundador y la solidez del equipo directivo. Innovaciones Mediterráneas tiene un track record sólido.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Confidential Information Memorandum</a:t>
            </a:r>
          </a:p>
          <a:p>
            <a:r>
              <a:t>Innovaciones Mediterráneas del Sur S.L.</a:t>
            </a:r>
          </a:p>
          <a:p>
            <a:r>
              <a:t>Mayo 2026</a:t>
            </a:r>
          </a:p>
          <a:p>
            <a:r>
              <a:t>Preparado por Implica Corporate Finance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Disclaimer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Este documento ha sido preparado por Implica Corporate Finance en nombre de Innovaciones Mediterráneas del Sur S.L..</a:t>
            </a:r>
          </a:p>
          <a:p>
            <a:pPr>
              <a:defRPr sz="1400"/>
            </a:pPr>
            <a:r>
              <a:t>• La información contenida es confidencial y propiedad exclusiva de Innovaciones Mediterráneas.</a:t>
            </a:r>
          </a:p>
          <a:p>
            <a:pPr>
              <a:defRPr sz="1400"/>
            </a:pPr>
            <a:r>
              <a:t>• Su uso queda restringido a las partes destinatarias firmantes del NDA.</a:t>
            </a:r>
          </a:p>
          <a:p>
            <a:pPr>
              <a:defRPr sz="1400"/>
            </a:pPr>
            <a:r>
              <a:t>• Para consultas: contactar con Ricardo González en Implica Corporate Finance.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Innovaciones Mediterráneas  |  Confidencial  |  Disclaimer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Resumen Ejecutivo — 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1. 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Innovaciones Mediterráneas del Sur S.L. es líder en el sector de soluciones industriales mediterráneas.</a:t>
            </a:r>
          </a:p>
          <a:p>
            <a:pPr>
              <a:defRPr sz="1400"/>
            </a:pPr>
            <a:r>
              <a:t>• Fundada en 2008 por Juan García Pérez, con sede en C/ Mayor 25, Madrid.</a:t>
            </a:r>
          </a:p>
          <a:p>
            <a:pPr>
              <a:defRPr sz="1400"/>
            </a:pPr>
            <a:r>
              <a:t>• Facturación 2024: 45,2 M€ (+18% YoY). EBITDA: 8,7 M€ (margen 19,2%).</a:t>
            </a:r>
          </a:p>
          <a:p>
            <a:pPr>
              <a:defRPr sz="1400"/>
            </a:pPr>
            <a:r>
              <a:t>• Equipo de 245 personas distribuidas entre Madrid y Barcelona.</a:t>
            </a:r>
          </a:p>
          <a:p>
            <a:pPr>
              <a:defRPr sz="1400"/>
            </a:pPr>
            <a:r>
              <a:t>• CIF: B85432109. Web: www.innovacionesmediterraneas.com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Innovaciones Mediterráneas  |  Confidencial  |  1. Resumen Ejecutivo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La Compañía — Innovaciones Mediterráneas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2. La Compañía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Razón social: Innovaciones Mediterráneas del Sur S.L.</a:t>
            </a:r>
          </a:p>
          <a:p>
            <a:pPr>
              <a:defRPr sz="1400"/>
            </a:pPr>
            <a:r>
              <a:t>• CIF: B85432109</a:t>
            </a:r>
          </a:p>
          <a:p>
            <a:pPr>
              <a:defRPr sz="1400"/>
            </a:pPr>
            <a:r>
              <a:t>• Sede social: C/ Mayor 25, Madrid</a:t>
            </a:r>
          </a:p>
          <a:p>
            <a:pPr>
              <a:defRPr sz="1400"/>
            </a:pPr>
            <a:r>
              <a:t>• Centros productivos: Madrid, Barcelona, Sevilla, Bilbao</a:t>
            </a:r>
          </a:p>
          <a:p>
            <a:pPr>
              <a:defRPr sz="1400"/>
            </a:pPr>
            <a:r>
              <a:t>• Filiales: Innovaciones Mediterráneas Portugal (Lisboa), IMS France (Lyon)</a:t>
            </a:r>
          </a:p>
          <a:p>
            <a:pPr>
              <a:defRPr sz="1400"/>
            </a:pPr>
            <a:r>
              <a:t>• Auditoría: PwC España. Asesoramiento legal: Garrigues.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Innovaciones Mediterráneas  |  Confidencial  |  2. La Compañía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Producto y Tecnología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3.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Innovaciones Mediterráneas desarrolla equipos de eficiencia energética para industria.</a:t>
            </a:r>
          </a:p>
          <a:p>
            <a:pPr>
              <a:defRPr sz="1400"/>
            </a:pPr>
            <a:r>
              <a:t>• Tres líneas: IMS-Cool (refrigeración), IMS-Heat (calefacción industrial), IMS-Air (ventilación).</a:t>
            </a:r>
          </a:p>
          <a:p>
            <a:pPr>
              <a:defRPr sz="1400"/>
            </a:pPr>
            <a:r>
              <a:t>• Tecnología propia patentada (3 patentes activas en España, 1 internacional).</a:t>
            </a:r>
          </a:p>
          <a:p>
            <a:pPr>
              <a:defRPr sz="1400"/>
            </a:pPr>
            <a:r>
              <a:t>• Centro I+D propio en Parque Tecnológico de Bizkaia, dirigido por Pedro Jiménez Alonso.</a:t>
            </a:r>
          </a:p>
          <a:p>
            <a:pPr>
              <a:defRPr sz="1400"/>
            </a:pPr>
            <a:r>
              <a:t>• Inversión en I+D: 2,3 M€ anuales (5% facturación).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Innovaciones Mediterráneas  |  Confidencial  |  3. Producto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Mercado y Competencia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4.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Mercado español de eficiencia energética industrial: 1.200 M€ (CAGR 2020-2024: +12%).</a:t>
            </a:r>
          </a:p>
          <a:p>
            <a:pPr>
              <a:defRPr sz="1400"/>
            </a:pPr>
            <a:r>
              <a:t>• Cuota de mercado de Innovaciones Mediterráneas: ~3,8% en España.</a:t>
            </a:r>
          </a:p>
          <a:p>
            <a:pPr>
              <a:defRPr sz="1400"/>
            </a:pPr>
            <a:r>
              <a:t>• Principales competidores: Industrias Reunidos S.A., Manufacturas Hispania, Productos Atlánticos S.L..</a:t>
            </a:r>
          </a:p>
          <a:p>
            <a:pPr>
              <a:defRPr sz="1400"/>
            </a:pPr>
            <a:r>
              <a:t>• Diferenciación: tecnología propia + servicio postventa (NPS 78 vs media sector 42).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Innovaciones Mediterráneas  |  Confidencial  |  4. Mercado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Equipo Directivo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5.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Juan García Pérez — CEO &amp; Founder</a:t>
            </a:r>
          </a:p>
          <a:p>
            <a:pPr>
              <a:defRPr sz="1400"/>
            </a:pPr>
            <a:r>
              <a:t>• María López Hernández — CFO</a:t>
            </a:r>
          </a:p>
          <a:p>
            <a:pPr>
              <a:defRPr sz="1400"/>
            </a:pPr>
            <a:r>
              <a:t>• Carlos Sánchez Ruiz — COO</a:t>
            </a:r>
          </a:p>
          <a:p>
            <a:pPr>
              <a:defRPr sz="1400"/>
            </a:pPr>
            <a:r>
              <a:t>• Ana Martínez Gómez — Chief Commercial Officer</a:t>
            </a:r>
          </a:p>
          <a:p>
            <a:pPr>
              <a:defRPr sz="1400"/>
            </a:pPr>
            <a:r>
              <a:t>• Pedro Jiménez Alonso — 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Innovaciones Mediterráneas  |  Confidencial  |  5. Equipo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Equipo — Biografías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Juan García Pérez (CEO &amp; Founder): 20 años en sector. Ex-Director General de Industrias Catalanas S.A.</a:t>
            </a:r>
          </a:p>
          <a:p>
            <a:pPr>
              <a:defRPr sz="1200"/>
            </a:pPr>
            <a:r>
              <a:t>María López Hernández (CFO): 15 años. Anteriormente CFO en Distribuciones del Norte S.L.</a:t>
            </a:r>
          </a:p>
          <a:p>
            <a:pPr>
              <a:defRPr sz="1200"/>
            </a:pPr>
            <a:r>
              <a:t>Carlos Sánchez Ruiz (COO): 10 años. Ingeniero industrial, MBA por IESE.</a:t>
            </a:r>
          </a:p>
          <a:p>
            <a:pPr>
              <a:defRPr sz="1200"/>
            </a:pPr>
            <a:r>
              <a:t>Ana Martínez Gómez (Chief Commercial Officer): Desarrollo de negocio internacional. Ex-Servicios Mediterráneos.</a:t>
            </a:r>
          </a:p>
          <a:p>
            <a:pPr>
              <a:defRPr sz="1200"/>
            </a:pPr>
            <a:r>
              <a:t>Pedro Jiménez Alonso (CTO): Ingeniero informático. Llegó con la adquisición de Tecnologías Premium S.L. en 2021.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Cuenta de Resultados 2022-2024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6. Financieros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Ingresos: 2022: 31,5 M€  |  2023: 38,4 M€  |  2024: 45,2 M€</a:t>
            </a:r>
          </a:p>
          <a:p>
            <a:pPr>
              <a:defRPr sz="1400"/>
            </a:pPr>
            <a:r>
              <a:t>• EBITDA: 2022: 5,1 M€ (16,2%)  |  2023: 6,9 M€ (18,0%)  |  2024: 8,7 M€ (19,2%)</a:t>
            </a:r>
          </a:p>
          <a:p>
            <a:pPr>
              <a:defRPr sz="1400"/>
            </a:pPr>
            <a:r>
              <a:t>• Beneficio neto: 2022: 2,8 M€  |  2023: 3,9 M€  |  2024: 5,1 M€</a:t>
            </a:r>
          </a:p>
          <a:p>
            <a:pPr>
              <a:defRPr sz="1400"/>
            </a:pPr>
            <a:r>
              <a:t>• DFN/EBITDA: 1,2x en 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Innovaciones Mediterráneas  |  Confidencial  |  6. Financieros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Top 5 Clientes (% facturación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6. Financieros — Clientes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Distribuciones García y Asociados S.L.: 14,2%</a:t>
            </a:r>
          </a:p>
          <a:p>
            <a:pPr>
              <a:defRPr sz="1400"/>
            </a:pPr>
            <a:r>
              <a:t>• Carrefour España S.A.: 11,8%</a:t>
            </a:r>
          </a:p>
          <a:p>
            <a:pPr>
              <a:defRPr sz="1400"/>
            </a:pPr>
            <a:r>
              <a:t>• Mercadona S.A.: 9,5%</a:t>
            </a:r>
          </a:p>
          <a:p>
            <a:pPr>
              <a:defRPr sz="1400"/>
            </a:pPr>
            <a:r>
              <a:t>• Grupo El Corte Inglés: 7,1%</a:t>
            </a:r>
          </a:p>
          <a:p>
            <a:pPr>
              <a:defRPr sz="1400"/>
            </a:pPr>
            <a:r>
              <a:t>• DIA España S.A.U.: 5,4%</a:t>
            </a:r>
          </a:p>
          <a:p>
            <a:pPr>
              <a:defRPr sz="1400"/>
            </a:pPr>
            <a:r>
              <a:t>• Concentración Top 5: 48% (anteriormente 52% en 2022, mejora de diversificación)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Innovaciones Mediterráneas  |  Confidencial  |  6. Financieros — Clientes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Cartera completa de clientes recurrentes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6. Financieros — Cartera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Distribuciones García y Asociados S.L.</a:t>
            </a:r>
          </a:p>
          <a:p>
            <a:pPr>
              <a:defRPr sz="1400"/>
            </a:pPr>
            <a:r>
              <a:t>• Carrefour España S.A.</a:t>
            </a:r>
          </a:p>
          <a:p>
            <a:pPr>
              <a:defRPr sz="1400"/>
            </a:pPr>
            <a:r>
              <a:t>• Mercadona S.A.</a:t>
            </a:r>
          </a:p>
          <a:p>
            <a:pPr>
              <a:defRPr sz="1400"/>
            </a:pPr>
            <a:r>
              <a:t>• Grupo El Corte Inglés</a:t>
            </a:r>
          </a:p>
          <a:p>
            <a:pPr>
              <a:defRPr sz="1400"/>
            </a:pPr>
            <a:r>
              <a:t>• DIA España S.A.U.</a:t>
            </a:r>
          </a:p>
          <a:p>
            <a:pPr>
              <a:defRPr sz="1400"/>
            </a:pPr>
            <a:r>
              <a:t>• Industrias Hermanos Romero S.L.</a:t>
            </a:r>
          </a:p>
          <a:p>
            <a:pPr>
              <a:defRPr sz="1400"/>
            </a:pPr>
            <a:r>
              <a:t>• Comercial del Levante S.L.U.</a:t>
            </a:r>
          </a:p>
          <a:p>
            <a:pPr>
              <a:defRPr sz="1400"/>
            </a:pPr>
            <a:r>
              <a:t>• Maderas Sánchez Hermanos</a:t>
            </a:r>
          </a:p>
          <a:p>
            <a:pPr>
              <a:defRPr sz="1400"/>
            </a:pPr>
            <a:r>
              <a:t>• Frutas Catalanas Premium S.A.</a:t>
            </a:r>
          </a:p>
          <a:p>
            <a:pPr>
              <a:defRPr sz="1400"/>
            </a:pPr>
            <a:r>
              <a:t>• Servicios Logística Iberia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Innovaciones Mediterráneas  |  Confidencial  |  6. Financieros — Cartera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Proveedores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7. Operaciones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Materias primas: Maderas Sánchez Hermanos, Industrias Hermanos Romero S.L.</a:t>
            </a:r>
          </a:p>
          <a:p>
            <a:pPr>
              <a:defRPr sz="1400"/>
            </a:pPr>
            <a:r>
              <a:t>• Logística: Servicios Logística Iberia (contrato exclusivo desde 2019).</a:t>
            </a:r>
          </a:p>
          <a:p>
            <a:pPr>
              <a:defRPr sz="1400"/>
            </a:pPr>
            <a:r>
              <a:t>• IT y software: Tecnologías Premium S.L. (filial desde 2021).</a:t>
            </a:r>
          </a:p>
          <a:p>
            <a:pPr>
              <a:defRPr sz="1400"/>
            </a:pPr>
            <a:r>
              <a:t>• Asesoría: Garrigues (legal), PwC (auditoría y fiscal).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Innovaciones Mediterráneas  |  Confidencial  |  7. Operaciones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Proyecciones 2025-2027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8. Proyecciones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Ingresos 2025E: 52,8 M€ (+17%). 2026E: 61,5 M€ (+16%). 2027E: 70,2 M€ (+14%).</a:t>
            </a:r>
          </a:p>
          <a:p>
            <a:pPr>
              <a:defRPr sz="1400"/>
            </a:pPr>
            <a:r>
              <a:t>• EBITDA margin: estabilización en 19,5-20,0%.</a:t>
            </a:r>
          </a:p>
          <a:p>
            <a:pPr>
              <a:defRPr sz="1400"/>
            </a:pPr>
            <a:r>
              <a:t>• CAPEX: 3,5 M€/año (nueva planta Sevilla operativa Q3 2026).</a:t>
            </a:r>
          </a:p>
          <a:p>
            <a:pPr>
              <a:defRPr sz="1400"/>
            </a:pPr>
            <a:r>
              <a:t>• Plan de expansión: Italia 2025, Francia 2026, ampliar Portugal.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Innovaciones Mediterráneas  |  Confidencial  |  8. Proyecciones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Oportunidad de Inversión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9. Oportunidad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Los accionistas de Innovaciones Mediterráneas (IMS) buscan un socio estratégico/financiero.</a:t>
            </a:r>
          </a:p>
          <a:p>
            <a:pPr>
              <a:defRPr sz="1400"/>
            </a:pPr>
            <a:r>
              <a:t>• Operación target: venta del 100% del capital.</a:t>
            </a:r>
          </a:p>
          <a:p>
            <a:pPr>
              <a:defRPr sz="1400"/>
            </a:pPr>
            <a:r>
              <a:t>• Múltiplos comparables: 8-10x EBITDA en transacciones recientes del sector.</a:t>
            </a:r>
          </a:p>
          <a:p>
            <a:pPr>
              <a:defRPr sz="1400"/>
            </a:pPr>
            <a:r>
              <a:t>• Valoración orientativa: rango 70-90 M€ enterprise value.</a:t>
            </a:r>
          </a:p>
          <a:p>
            <a:pPr>
              <a:defRPr sz="1400"/>
            </a:pPr>
            <a:r>
              <a:t>• Apertura de proceso: junio 2026. Cierre estimado: Q4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Innovaciones Mediterráneas  |  Confidencial  |  9. Oportunidad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Investment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10.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✓ Líder en nicho de alto crecimiento (CAGR 12%).</a:t>
            </a:r>
          </a:p>
          <a:p>
            <a:pPr>
              <a:defRPr sz="1400"/>
            </a:pPr>
            <a:r>
              <a:t>• ✓ Tecnología propia patentada con barreras de entrada.</a:t>
            </a:r>
          </a:p>
          <a:p>
            <a:pPr>
              <a:defRPr sz="1400"/>
            </a:pPr>
            <a:r>
              <a:t>• ✓ Equipo directivo experimentado con track record probado.</a:t>
            </a:r>
          </a:p>
          <a:p>
            <a:pPr>
              <a:defRPr sz="1400"/>
            </a:pPr>
            <a:r>
              <a:t>• ✓ Diversificación de clientes mejorando (Top 5 baja del 52% al 48%).</a:t>
            </a:r>
          </a:p>
          <a:p>
            <a:pPr>
              <a:defRPr sz="1400"/>
            </a:pPr>
            <a:r>
              <a:t>• ✓ Plan de expansión internacional ya iniciado.</a:t>
            </a:r>
          </a:p>
          <a:p>
            <a:pPr>
              <a:defRPr sz="1400"/>
            </a:pPr>
            <a:r>
              <a:t>• ✓ Márgenes EBITDA en expansión: 16% → 19% en 3 años.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Innovaciones Mediterráneas  |  Confidencial  |  10. Highlights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Cap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Anexo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Juan García Pérez (CEO): 52% del capital.</a:t>
            </a:r>
          </a:p>
          <a:p>
            <a:pPr>
              <a:defRPr sz="1400"/>
            </a:pPr>
            <a:r>
              <a:t>• Family office Hermanos García (3 hermanos del fundador): 18%.</a:t>
            </a:r>
          </a:p>
          <a:p>
            <a:pPr>
              <a:defRPr sz="1400"/>
            </a:pPr>
            <a:r>
              <a:t>• Auriga Capital Partners (VC entrada 2019): 15%.</a:t>
            </a:r>
          </a:p>
          <a:p>
            <a:pPr>
              <a:defRPr sz="1400"/>
            </a:pPr>
            <a:r>
              <a:t>• María López Hernández (CFO): 4%.</a:t>
            </a:r>
          </a:p>
          <a:p>
            <a:pPr>
              <a:defRPr sz="1400"/>
            </a:pPr>
            <a:r>
              <a:t>• Pedro Jiménez Alonso (CTO): 4%.</a:t>
            </a:r>
          </a:p>
          <a:p>
            <a:pPr>
              <a:defRPr sz="1400"/>
            </a:pPr>
            <a:r>
              <a:t>• Empleados via stock options: 7%.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Innovaciones Mediterráneas  |  Confidencial  |  Anexo 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Estructura societaria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Anexo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Innovaciones Mediterráneas del Sur S.L. (matriz, CIF B85432109) — España.</a:t>
            </a:r>
          </a:p>
          <a:p>
            <a:pPr>
              <a:defRPr sz="1400"/>
            </a:pPr>
            <a:r>
              <a:t>• Innovaciones Mediterráneas Portugal Lda. — 100% participada, sede Lisboa.</a:t>
            </a:r>
          </a:p>
          <a:p>
            <a:pPr>
              <a:defRPr sz="1400"/>
            </a:pPr>
            <a:r>
              <a:t>• IMS France SAS — 100% participada, sede Lyon.</a:t>
            </a:r>
          </a:p>
          <a:p>
            <a:pPr>
              <a:defRPr sz="1400"/>
            </a:pPr>
            <a:r>
              <a:t>• Tecnologías Premium S.L. (CIF B98765432) — 100% participada desde 2021.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Innovaciones Mediterráneas  |  Confidencial  |  Anexo 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Localizaciones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Anexo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📍 C/ Mayor 25, Madrid</a:t>
            </a:r>
          </a:p>
          <a:p>
            <a:pPr>
              <a:defRPr sz="1400"/>
            </a:pPr>
            <a:r>
              <a:t>• 📍 Avenida Diagonal 405, Barcelona</a:t>
            </a:r>
          </a:p>
          <a:p>
            <a:pPr>
              <a:defRPr sz="1400"/>
            </a:pPr>
            <a:r>
              <a:t>• 📍 Polígono Industrial El Plantío, Sevilla</a:t>
            </a:r>
          </a:p>
          <a:p>
            <a:pPr>
              <a:defRPr sz="1400"/>
            </a:pPr>
            <a:r>
              <a:t>• 📍 Parque Tecnológico de Bizkaia, Bilbao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Innovaciones Mediterráneas  |  Confidencial  |  Anexo 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Contacto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Contacto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Implica Corporate Finance</a:t>
            </a:r>
          </a:p>
          <a:p>
            <a:pPr>
              <a:defRPr sz="1400"/>
            </a:pPr>
            <a:r>
              <a:t>• Ricardo González — Analyst</a:t>
            </a:r>
          </a:p>
          <a:p>
            <a:pPr>
              <a:defRPr sz="1400"/>
            </a:pPr>
            <a:r>
              <a:t>• Email: ricardo.gonzalez@implicacf.com</a:t>
            </a:r>
          </a:p>
          <a:p>
            <a:pPr>
              <a:defRPr sz="1400"/>
            </a:pPr>
            <a:r>
              <a:t>• Móvil: +34 612 345 678</a:t>
            </a:r>
          </a:p>
          <a:p>
            <a:pPr>
              <a:defRPr sz="1400"/>
            </a:pPr>
            <a:r>
              <a:t>• Oficina: C/ Velázquez 28, 28001 Madrid</a:t>
            </a:r>
          </a:p>
          <a:p>
            <a:pPr>
              <a:defRPr sz="1400"/>
            </a:pPr>
            <a:r>
              <a:t>• Web: www.implicacf.com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Innovaciones Mediterráneas  |  Confidencial  |  Contacto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Disclaimer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Disclaimer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Este documento es propiedad de Innovaciones Mediterráneas del Sur S.L. y de Implica Corporate Finance.</a:t>
            </a:r>
          </a:p>
          <a:p>
            <a:pPr>
              <a:defRPr sz="1400"/>
            </a:pPr>
            <a:r>
              <a:t>• Cualquier reproducción no autorizada está prohibida.</a:t>
            </a:r>
          </a:p>
          <a:p>
            <a:pPr>
              <a:defRPr sz="1400"/>
            </a:pPr>
            <a:r>
              <a:t>• La información financiera no auditada está sujeta a verificación en due diligence.</a:t>
            </a:r>
          </a:p>
          <a:p>
            <a:pPr>
              <a:defRPr sz="1400"/>
            </a:pPr>
            <a:r>
              <a:t>• Contacto único para cuestiones: Ricardo González (Implica) — ricardo.gonzalez@implicacf.com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Innovaciones Mediterráneas  |  Confidencial  |  Disclaimer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